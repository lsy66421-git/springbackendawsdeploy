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hEp8b45bhzUNDAUWrLW4VmeW7v9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ko-KR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2e27fa702e1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g2e27fa702e1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>
  <p:cSld name="제목 슬라이드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9" name="Google Shape;19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2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구역 머리글">
  <p:cSld name="1_구역 머리글">
    <p:bg>
      <p:bgPr>
        <a:solidFill>
          <a:srgbClr val="CAEEDC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3"/>
          <p:cNvSpPr/>
          <p:nvPr/>
        </p:nvSpPr>
        <p:spPr>
          <a:xfrm>
            <a:off x="358066" y="322554"/>
            <a:ext cx="11475868" cy="6193655"/>
          </a:xfrm>
          <a:prstGeom prst="roundRect">
            <a:avLst>
              <a:gd fmla="val 534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3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descr="로고이(가) 표시된 사진&#10;&#10;자동 생성된 설명" id="27" name="Google Shape;27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32972" y="5903385"/>
            <a:ext cx="756140" cy="7561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>
  <p:cSld name="구역 머리글">
    <p:bg>
      <p:bgPr>
        <a:solidFill>
          <a:srgbClr val="CAEEDC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4"/>
          <p:cNvSpPr/>
          <p:nvPr/>
        </p:nvSpPr>
        <p:spPr>
          <a:xfrm>
            <a:off x="358066" y="322554"/>
            <a:ext cx="11475868" cy="6193655"/>
          </a:xfrm>
          <a:prstGeom prst="roundRect">
            <a:avLst>
              <a:gd fmla="val 534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4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" type="body"/>
          </p:nvPr>
        </p:nvSpPr>
        <p:spPr>
          <a:xfrm>
            <a:off x="5456808" y="1508789"/>
            <a:ext cx="5896992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descr="로고이(가) 표시된 사진&#10;&#10;자동 생성된 설명" id="33" name="Google Shape;33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32972" y="5903385"/>
            <a:ext cx="756140" cy="7561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descr="로고이(가) 표시된 사진&#10;&#10;자동 생성된 설명" id="15" name="Google Shape;15;p1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932972" y="5903385"/>
            <a:ext cx="756140" cy="75614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AEEDC">
            <a:alpha val="64709"/>
          </a:srgbClr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2e27fa702e1_0_0"/>
          <p:cNvSpPr/>
          <p:nvPr/>
        </p:nvSpPr>
        <p:spPr>
          <a:xfrm>
            <a:off x="358066" y="322554"/>
            <a:ext cx="11475900" cy="6193800"/>
          </a:xfrm>
          <a:prstGeom prst="roundRect">
            <a:avLst>
              <a:gd fmla="val 534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g2e27fa702e1_0_0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A881"/>
              </a:buClr>
              <a:buSzPts val="6000"/>
              <a:buFont typeface="Arial"/>
              <a:buNone/>
            </a:pPr>
            <a:r>
              <a:rPr b="1" lang="ko-KR">
                <a:solidFill>
                  <a:srgbClr val="00A881"/>
                </a:solidFill>
                <a:latin typeface="Arial"/>
                <a:ea typeface="Arial"/>
                <a:cs typeface="Arial"/>
                <a:sym typeface="Arial"/>
              </a:rPr>
              <a:t>스프링 부트 3</a:t>
            </a:r>
            <a:br>
              <a:rPr b="1" lang="ko-KR">
                <a:latin typeface="Arial"/>
                <a:ea typeface="Arial"/>
                <a:cs typeface="Arial"/>
                <a:sym typeface="Arial"/>
              </a:rPr>
            </a:br>
            <a:r>
              <a:rPr b="1" lang="ko-KR">
                <a:latin typeface="Arial"/>
                <a:ea typeface="Arial"/>
                <a:cs typeface="Arial"/>
                <a:sym typeface="Arial"/>
              </a:rPr>
              <a:t>백엔드 개발자 되기 </a:t>
            </a:r>
            <a:r>
              <a:rPr b="1" lang="ko-KR">
                <a:solidFill>
                  <a:srgbClr val="00A88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lang="ko-KR">
                <a:solidFill>
                  <a:srgbClr val="00A881"/>
                </a:solidFill>
              </a:rPr>
              <a:t>2판)</a:t>
            </a:r>
            <a:endParaRPr>
              <a:solidFill>
                <a:srgbClr val="00A881"/>
              </a:solidFill>
            </a:endParaRPr>
          </a:p>
        </p:txBody>
      </p:sp>
      <p:sp>
        <p:nvSpPr>
          <p:cNvPr id="40" name="Google Shape;40;g2e27fa702e1_0_0"/>
          <p:cNvSpPr txBox="1"/>
          <p:nvPr>
            <p:ph idx="4294967295" type="subTitle"/>
          </p:nvPr>
        </p:nvSpPr>
        <p:spPr>
          <a:xfrm>
            <a:off x="0" y="3723366"/>
            <a:ext cx="12192000" cy="9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ko-KR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JPA+OAuth2+JWT+AWS와 배우는 </a:t>
            </a:r>
            <a:r>
              <a:rPr b="0" i="0" lang="ko-KR" sz="2800" u="none" cap="none" strike="noStrike">
                <a:solidFill>
                  <a:srgbClr val="00A881"/>
                </a:solidFill>
                <a:latin typeface="Arial"/>
                <a:ea typeface="Arial"/>
                <a:cs typeface="Arial"/>
                <a:sym typeface="Arial"/>
              </a:rPr>
              <a:t>스프링 부트 3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ko-KR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Java 백엔드 입문자를 위한 풀 패키지</a:t>
            </a:r>
            <a:endParaRPr/>
          </a:p>
        </p:txBody>
      </p:sp>
      <p:sp>
        <p:nvSpPr>
          <p:cNvPr id="41" name="Google Shape;41;g2e27fa702e1_0_0"/>
          <p:cNvSpPr txBox="1"/>
          <p:nvPr>
            <p:ph idx="12" type="sldNum"/>
          </p:nvPr>
        </p:nvSpPr>
        <p:spPr>
          <a:xfrm>
            <a:off x="8610600" y="614465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"/>
          <p:cNvSpPr/>
          <p:nvPr/>
        </p:nvSpPr>
        <p:spPr>
          <a:xfrm>
            <a:off x="358066" y="322554"/>
            <a:ext cx="11475868" cy="6193655"/>
          </a:xfrm>
          <a:prstGeom prst="roundRect">
            <a:avLst>
              <a:gd fmla="val 534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A881"/>
              </a:buClr>
              <a:buSzPts val="3200"/>
              <a:buFont typeface="Arial"/>
              <a:buNone/>
            </a:pPr>
            <a:r>
              <a:rPr lang="ko-KR" sz="3200">
                <a:solidFill>
                  <a:srgbClr val="00A881"/>
                </a:solidFill>
                <a:latin typeface="Arial"/>
                <a:ea typeface="Arial"/>
                <a:cs typeface="Arial"/>
                <a:sym typeface="Arial"/>
              </a:rPr>
              <a:t>02 </a:t>
            </a:r>
            <a:r>
              <a:rPr lang="ko-KR" sz="3200">
                <a:latin typeface="Arial"/>
                <a:ea typeface="Arial"/>
                <a:cs typeface="Arial"/>
                <a:sym typeface="Arial"/>
              </a:rPr>
              <a:t>스프링 부트 3 시작하기</a:t>
            </a:r>
            <a:endParaRPr/>
          </a:p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2.1 스프링과 스프링 부트</a:t>
            </a:r>
            <a:endParaRPr/>
          </a:p>
        </p:txBody>
      </p:sp>
      <p:sp>
        <p:nvSpPr>
          <p:cNvPr id="55" name="Google Shape;55;p3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스프링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자바 기반의 엔터프라이즈 애플리케이션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엔터프라이즈 애플리케이션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ko-KR" sz="1200">
                <a:latin typeface="Arial"/>
                <a:ea typeface="Arial"/>
                <a:cs typeface="Arial"/>
                <a:sym typeface="Arial"/>
              </a:rPr>
              <a:t>대규모 서비스를 뜻함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서버 성능, 안정성, 보안 등을 높은 수준으로 제공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스프링 부트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스프링의 복잡한 설정을 쉽게 만들어 출시한 일종의 스핀오프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ko-KR" sz="1200">
                <a:latin typeface="Arial"/>
                <a:ea typeface="Arial"/>
                <a:cs typeface="Arial"/>
                <a:sym typeface="Arial"/>
              </a:rPr>
              <a:t>빠르게 스프링 프로젝트 설정 가능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ko-KR" sz="1200">
                <a:latin typeface="Arial"/>
                <a:ea typeface="Arial"/>
                <a:cs typeface="Arial"/>
                <a:sym typeface="Arial"/>
              </a:rPr>
              <a:t>스타터를 사용하면 의존성 사용, 관리 용이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1524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3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57" name="Google Shape;5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3886" y="3719540"/>
            <a:ext cx="6467704" cy="242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2.1 스프링과 스프링 부트(cont.)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4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차이점 1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구성의 차이 : 스프링은 개발에 필요한 환경을 수동 구성, 스프링 부트는 자동 구성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차이점 2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내장 WAS의 유무 : 스프링 부트는 처음부터 WAS를 가지고 있음(tomcat)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ko-KR" sz="1200">
                <a:latin typeface="Arial"/>
                <a:ea typeface="Arial"/>
                <a:cs typeface="Arial"/>
                <a:sym typeface="Arial"/>
              </a:rPr>
              <a:t>WAS : 웹 애플리케이션을 실행하기 위한 장치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grpSp>
        <p:nvGrpSpPr>
          <p:cNvPr id="66" name="Google Shape;66;p4"/>
          <p:cNvGrpSpPr/>
          <p:nvPr/>
        </p:nvGrpSpPr>
        <p:grpSpPr>
          <a:xfrm>
            <a:off x="4058816" y="3209731"/>
            <a:ext cx="7294984" cy="2811996"/>
            <a:chOff x="3105539" y="3429000"/>
            <a:chExt cx="7781731" cy="3024799"/>
          </a:xfrm>
        </p:grpSpPr>
        <p:pic>
          <p:nvPicPr>
            <p:cNvPr id="67" name="Google Shape;67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105539" y="3429000"/>
              <a:ext cx="7772400" cy="16944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8" name="Google Shape;68;p4"/>
            <p:cNvPicPr preferRelativeResize="0"/>
            <p:nvPr/>
          </p:nvPicPr>
          <p:blipFill rotWithShape="1">
            <a:blip r:embed="rId4">
              <a:alphaModFix/>
            </a:blip>
            <a:srcRect b="-1" l="0" r="0" t="7361"/>
            <a:stretch/>
          </p:blipFill>
          <p:spPr>
            <a:xfrm>
              <a:off x="3114870" y="4973217"/>
              <a:ext cx="7772400" cy="148058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2.2 스프링 콘셉트 공부하기</a:t>
            </a:r>
            <a:endParaRPr/>
          </a:p>
        </p:txBody>
      </p:sp>
      <p:sp>
        <p:nvSpPr>
          <p:cNvPr id="75" name="Google Shape;75;p5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제어의 역전과 의존성 주입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제어의 역전 = IoC = Inversion of Control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ko-KR" sz="1200">
                <a:latin typeface="Arial"/>
                <a:ea typeface="Arial"/>
                <a:cs typeface="Arial"/>
                <a:sym typeface="Arial"/>
              </a:rPr>
              <a:t>객체를 직접 관리하는 것이 아닌 외부에서 관리하는 것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의존성 주입 = DI = Dependency Injection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ko-KR" sz="1200">
                <a:latin typeface="Arial"/>
                <a:ea typeface="Arial"/>
                <a:cs typeface="Arial"/>
                <a:sym typeface="Arial"/>
              </a:rPr>
              <a:t>빈 : 스프링 컨테이너가 관리하는 객체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ko-KR" sz="1200">
                <a:latin typeface="Arial"/>
                <a:ea typeface="Arial"/>
                <a:cs typeface="Arial"/>
                <a:sym typeface="Arial"/>
              </a:rPr>
              <a:t>빈을 스프링 컨테이너로부터 주입 받아 사용(직접 객체를 생성하지 않음)</a:t>
            </a:r>
            <a:endParaRPr/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5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77" name="Google Shape;7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1534" y="3249202"/>
            <a:ext cx="3607707" cy="2100009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20215" y="3311663"/>
            <a:ext cx="6044680" cy="19750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2.2 스프링 콘셉트 공부하기(cont.)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6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스프링 컨테이너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스프링 안에서 동작하는 빈 생성 및 관리 주체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빈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스프링 컨테이너가 생성하고 관리하는 객체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빈 등록 방법은 여러가지(51쪽 참고)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관점 지향 프로그래밍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AOP = Aspect Oriented Programming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핵심 관점, 부가 관점으로 나누어 프로그래밍하는 것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6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87" name="Google Shape;8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67559" y="2511348"/>
            <a:ext cx="4486081" cy="3387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2.2 스프링 콘셉트 공부하기(cont.)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7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이식 가능한 서비스 추상화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PSA = Portable Service Abstraction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스프링에서 제공하는 다양한 기술을 추상화해 개발자가 쉽게 사용하는 인터페이스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ko-KR" sz="1200">
                <a:latin typeface="Arial"/>
                <a:ea typeface="Arial"/>
                <a:cs typeface="Arial"/>
                <a:sym typeface="Arial"/>
              </a:rPr>
              <a:t>데이터베이스를 위한 PSA : JPA, MyBatis, JDBC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ko-KR" sz="1200">
                <a:latin typeface="Arial"/>
                <a:ea typeface="Arial"/>
                <a:cs typeface="Arial"/>
                <a:sym typeface="Arial"/>
              </a:rPr>
              <a:t>실행을 위한 PSA : WAS</a:t>
            </a:r>
            <a:endParaRPr/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7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96" name="Google Shape;9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7056" y="3796515"/>
            <a:ext cx="6554756" cy="1978396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47453" y="2774144"/>
            <a:ext cx="4545564" cy="27885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83599" y="3294231"/>
            <a:ext cx="5054002" cy="2604566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8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2.3 스프링 부트 3 둘러보기</a:t>
            </a:r>
            <a:endParaRPr/>
          </a:p>
        </p:txBody>
      </p:sp>
      <p:sp>
        <p:nvSpPr>
          <p:cNvPr id="105" name="Google Shape;105;p8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54쪽부터 참고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TestController.java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서버 실행 및 확인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스프링 부트 스타터 살펴보기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자동 구성 항목 살펴보기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8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107" name="Google Shape;107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08450" y="1982755"/>
            <a:ext cx="3975100" cy="182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9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2.4 스프링 부트 3 코드 이해하기</a:t>
            </a:r>
            <a:endParaRPr/>
          </a:p>
        </p:txBody>
      </p:sp>
      <p:sp>
        <p:nvSpPr>
          <p:cNvPr id="114" name="Google Shape;114;p9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SpringBootDeveloperApplication.java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자바의 main( ) 메서드와 같은 역할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내부에 @SpringBootConfiguration, @ComponentScan, @Enabl AutoConfiguration 구성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63쪽부터 참고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9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116" name="Google Shape;11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9800" y="3046687"/>
            <a:ext cx="7772400" cy="19833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0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2.4 스프링 부트 3 코드 이해하기(cont.)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0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TestController.java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@RestController : 클래스가 라우터 역할을 할 수 있게 해주는 애너테이션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@GetMapping(/test) : /test GET 요청을 처리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@RestController의 근본은 @Component 애너테이션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0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125" name="Google Shape;12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9800" y="3066174"/>
            <a:ext cx="7772400" cy="2283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2023-04-28T02:19:35Z</dcterms:created>
  <dc:creator>현규 박</dc:creator>
</cp:coreProperties>
</file>