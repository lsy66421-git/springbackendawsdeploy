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nJQNr98j6qNRWxm+E1BLPzye/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27f41e30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e27f41e30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27f41e301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e27f41e301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e27f41e301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e27f41e301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566057" y="1122363"/>
            <a:ext cx="112678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08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스프링 시큐리티로 로그인/로그아웃, 회원 가입 구현하기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완성 화면 미리보기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06442"/>
            <a:ext cx="7772400" cy="364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기반의 애플리케이션 보안을 담당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인증과 인가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인증 : 사용자의 신원을 입중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인가 : 사이트의 특정 부분에 접근할 수 있는 사용자인지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CSRF 공격, 세션 고정 공격 등을 방어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sz="2000">
                <a:latin typeface="Arial"/>
                <a:ea typeface="Arial"/>
                <a:cs typeface="Arial"/>
                <a:sym typeface="Arial"/>
              </a:rPr>
              <a:t>개발자의 보안 관련 개발 부담을 줄여줌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8.1 사전 지식 : 스프링 시큐리티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필터 기반으로 동작하는 </a:t>
            </a:r>
            <a:br>
              <a:rPr lang="ko-KR" sz="2400">
                <a:latin typeface="Arial"/>
                <a:ea typeface="Arial"/>
                <a:cs typeface="Arial"/>
                <a:sym typeface="Arial"/>
              </a:rPr>
            </a:b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시큐리티 구성 참고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자세한 내용은 </a:t>
            </a:r>
            <a:br>
              <a:rPr lang="ko-KR" sz="2400">
                <a:latin typeface="Arial"/>
                <a:ea typeface="Arial"/>
                <a:cs typeface="Arial"/>
                <a:sym typeface="Arial"/>
              </a:rPr>
            </a:br>
            <a:r>
              <a:rPr lang="ko-KR" sz="2400">
                <a:latin typeface="Arial"/>
                <a:ea typeface="Arial"/>
                <a:cs typeface="Arial"/>
                <a:sym typeface="Arial"/>
              </a:rPr>
              <a:t>202쪽 참고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8.1 사전 지식 : 스프링 시큐리티(cont.)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7312" y="1262929"/>
            <a:ext cx="6756488" cy="488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스프링 시큐리티 인증 절차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자세한 내용은 </a:t>
            </a:r>
            <a:br>
              <a:rPr lang="ko-KR" sz="2400">
                <a:latin typeface="Arial"/>
                <a:ea typeface="Arial"/>
                <a:cs typeface="Arial"/>
                <a:sym typeface="Arial"/>
              </a:rPr>
            </a:br>
            <a:r>
              <a:rPr lang="ko-KR" sz="2400">
                <a:latin typeface="Arial"/>
                <a:ea typeface="Arial"/>
                <a:cs typeface="Arial"/>
                <a:sym typeface="Arial"/>
              </a:rPr>
              <a:t>203쪽 참고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8.1 사전 지식 : 스프링 시큐리티(cont.)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961" y="1593978"/>
            <a:ext cx="6952839" cy="3988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build.gradle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UserRepository.java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UserDetailService.java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8.2 회원 도메인 만들기</a:t>
            </a:r>
            <a:endParaRPr/>
          </a:p>
        </p:txBody>
      </p:sp>
      <p:sp>
        <p:nvSpPr>
          <p:cNvPr id="91" name="Google Shape;91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WebSecurityConfig.java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AddUserRequest.java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controller/UserApiController.java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8.3 시큐리티 설정하기</a:t>
            </a:r>
            <a:endParaRPr/>
          </a:p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AddUserRequest.java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UserService.java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controller/UserApiController.java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8.4 회원 가입 구현하기</a:t>
            </a:r>
            <a:endParaRPr/>
          </a:p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UserViewController.java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login.html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signup.html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html 작성은 저자 깃허브에서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https://github.com/shinsunyoung/springboot-developer/blob/main/chapter7/src/main/resources/templates/login.html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ko-KR" sz="1200">
                <a:latin typeface="Arial"/>
                <a:ea typeface="Arial"/>
                <a:cs typeface="Arial"/>
                <a:sym typeface="Arial"/>
              </a:rPr>
              <a:t>https://github.com/shinsunyoung/springboot-developer/blob/main/chapter7/src/main/resources/templates/signup.html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52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0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8.5 회원 가입, 로그인 뷰 작성하기</a:t>
            </a:r>
            <a:endParaRPr/>
          </a:p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UserApiController.java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articleList.html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8.6 로그아웃 구현하기</a:t>
            </a:r>
            <a:endParaRPr/>
          </a:p>
        </p:txBody>
      </p:sp>
      <p:sp>
        <p:nvSpPr>
          <p:cNvPr id="123" name="Google Shape;123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실습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application.yml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회원 가입 화면에서 회원 가입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로그인 화면에서 로그인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블로그 기본 화면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데이터베이스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로그아웃 확인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8.7 실행 테스트하기</a:t>
            </a:r>
            <a:endParaRPr/>
          </a:p>
        </p:txBody>
      </p:sp>
      <p:sp>
        <p:nvSpPr>
          <p:cNvPr id="131" name="Google Shape;131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grpSp>
        <p:nvGrpSpPr>
          <p:cNvPr id="132" name="Google Shape;132;p12"/>
          <p:cNvGrpSpPr/>
          <p:nvPr/>
        </p:nvGrpSpPr>
        <p:grpSpPr>
          <a:xfrm>
            <a:off x="3325798" y="3361509"/>
            <a:ext cx="7923494" cy="2783148"/>
            <a:chOff x="4156167" y="3115649"/>
            <a:chExt cx="7923494" cy="2783148"/>
          </a:xfrm>
        </p:grpSpPr>
        <p:grpSp>
          <p:nvGrpSpPr>
            <p:cNvPr id="133" name="Google Shape;133;p12"/>
            <p:cNvGrpSpPr/>
            <p:nvPr/>
          </p:nvGrpSpPr>
          <p:grpSpPr>
            <a:xfrm>
              <a:off x="4156167" y="3115649"/>
              <a:ext cx="4994920" cy="2783148"/>
              <a:chOff x="3313248" y="1508789"/>
              <a:chExt cx="8319999" cy="4635868"/>
            </a:xfrm>
          </p:grpSpPr>
          <p:pic>
            <p:nvPicPr>
              <p:cNvPr id="134" name="Google Shape;134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13248" y="1508789"/>
                <a:ext cx="3979554" cy="46358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5" name="Google Shape;135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92802" y="1508789"/>
                <a:ext cx="4340445" cy="46358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6" name="Google Shape;136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151087" y="3115649"/>
              <a:ext cx="2928574" cy="2783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